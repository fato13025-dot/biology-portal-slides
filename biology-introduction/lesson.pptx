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Cairo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slideMasters/slideMaster1.xml"/><ns0:Relationship Id="rId2" Type="http://schemas.openxmlformats.org/officeDocument/2006/relationships/printerSettings" Target="printerSettings/printerSettings1.bin"/><ns0:Relationship Id="rId3" Type="http://schemas.openxmlformats.org/officeDocument/2006/relationships/presProps" Target="presProps.xml"/><ns0:Relationship Id="rId4" Type="http://schemas.openxmlformats.org/officeDocument/2006/relationships/viewProps" Target="viewProps.xml"/><ns0:Relationship Id="rId5" Type="http://schemas.openxmlformats.org/officeDocument/2006/relationships/theme" Target="theme/theme1.xml"/><ns0:Relationship Id="rId6" Type="http://schemas.openxmlformats.org/officeDocument/2006/relationships/tableStyles" Target="tableStyles.xml"/><ns0:Relationship Id="rId7" Type="http://schemas.openxmlformats.org/officeDocument/2006/relationships/slide" Target="slides/slide1.xml"/><ns0:Relationship Id="rId8" Type="http://schemas.openxmlformats.org/officeDocument/2006/relationships/slide" Target="slides/slide2.xml"/><ns0:Relationship Id="rId9" Type="http://schemas.openxmlformats.org/officeDocument/2006/relationships/slide" Target="slides/slide3.xml"/><ns0:Relationship Id="rId10" Type="http://schemas.openxmlformats.org/officeDocument/2006/relationships/slide" Target="slides/slide4.xml"/><ns0:Relationship Id="rId11" Type="http://schemas.openxmlformats.org/officeDocument/2006/relationships/slide" Target="slides/slide5.xml"/><ns0:Relationship Id="rId12" Type="http://schemas.openxmlformats.org/officeDocument/2006/relationships/slide" Target="slides/slide6.xml"/><ns0:Relationship Id="rId13" Type="http://schemas.openxmlformats.org/officeDocument/2006/relationships/slide" Target="slides/slide7.xml"/><ns0:Relationship Id="rId14" Type="http://schemas.openxmlformats.org/officeDocument/2006/relationships/slide" Target="slides/slide8.xml"/><ns0:Relationship Id="rId15" Type="http://schemas.openxmlformats.org/officeDocument/2006/relationships/slide" Target="slides/slide9.xml"/><ns0:Relationship Id="rIdFont17" Type="http://schemas.openxmlformats.org/officeDocument/2006/relationships/font" Target="fonts/161cb32d-0593-4dad-8091-47e3b3cea881.fntdata"/><ns0:Relationship Id="rIdFont18" Type="http://schemas.openxmlformats.org/officeDocument/2006/relationships/font" Target="fonts/fdb6f25b-1604-4814-98e0-5362366d06bd.fntdata"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portal_logo_added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portal_logo_added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portal_logo_added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portal_logo_added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rtal_logo_added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portal_logo_add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portal_logo_added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portal_logo_added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rtal_logo_added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19750" y="4591050"/>
            <a:ext cx="952500" cy="381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28850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837" y="2428875"/>
            <a:ext cx="31432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9280" y="3295650"/>
            <a:ext cx="75134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Cairo"/>
              </a:rPr>
              <a:t>مدخل إلى علم الأحياء</a:t>
            </a:r>
          </a:p>
        </p:txBody>
      </p:sp>
      <p:pic>
        <p:nvPicPr>
          <p:cNvPr id="7" name="بوابة الأحياء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0" y="2233612"/>
            <a:ext cx="6096000" cy="1409700"/>
          </a:xfrm>
          <a:prstGeom prst="roundRect">
            <a:avLst>
              <a:gd name="adj" fmla="val 8108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0" y="3833812"/>
            <a:ext cx="6096000" cy="1743075"/>
          </a:xfrm>
          <a:prstGeom prst="roundRect">
            <a:avLst>
              <a:gd name="adj" fmla="val 6557"/>
            </a:avLst>
          </a:prstGeom>
          <a:solidFill>
            <a:srgbClr val="F1F7F2"/>
          </a:solidFill>
          <a:ln w="9525">
            <a:solidFill>
              <a:srgbClr val="D4E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0" y="3633787"/>
            <a:ext cx="6096000" cy="952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0" y="2233612"/>
            <a:ext cx="6096000" cy="952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0" y="2233612"/>
            <a:ext cx="9525" cy="1409700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91900" y="2233612"/>
            <a:ext cx="38100" cy="1409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96300" y="4386262"/>
            <a:ext cx="2695575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2125" y="4386262"/>
            <a:ext cx="2695575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95500"/>
            <a:ext cx="4191000" cy="3619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105025"/>
            <a:ext cx="4171950" cy="3600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552700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2E7D32"/>
                </a:solidFill>
                <a:latin typeface="Cairo"/>
              </a:rPr>
              <a:t>الأساس العلمي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571750" y="876300"/>
            <a:ext cx="14001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b="1" sz="2400" i="0" u="none">
                <a:solidFill>
                  <a:srgbClr val="1B2A26"/>
                </a:solidFill>
                <a:latin typeface="Cairo"/>
              </a:rPr>
              <a:t>مفهوم علم الأحياء وأصل الكلمة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2591" y="2471737"/>
            <a:ext cx="5670708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تعريف علم الأحياء (Biology)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6875" y="2919412"/>
            <a:ext cx="56864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هو العلم الذي يهتم بدراسة أنواع الحياة، وتاريخها، وكل ما كان حياً يوماً ما، وتركيب المخلوقات الحية وكيف تقوم بوظائفها وتتفاعل مع بعضها.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1125" y="4071937"/>
            <a:ext cx="60007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1B2A26"/>
                </a:solidFill>
                <a:latin typeface="Cairo"/>
              </a:rPr>
              <a:t>أصل كلمة Biology: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703" y="4519612"/>
            <a:ext cx="31027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E7D32"/>
                </a:solidFill>
                <a:latin typeface="Cairo"/>
              </a:rPr>
              <a:t>Bio</a:t>
            </a:r>
            <a:r>
              <a:rPr b="1" sz="1650" i="0" u="none">
                <a:solidFill>
                  <a:srgbClr val="2E7D32"/>
                </a:solidFill>
                <a:latin typeface="Cairo"/>
              </a:rPr>
              <a:t> </a:t>
            </a:r>
            <a:r>
              <a:rPr b="1" sz="1125" i="0" u="none">
                <a:solidFill>
                  <a:srgbClr val="555555"/>
                </a:solidFill>
                <a:latin typeface="Cairo"/>
              </a:rPr>
              <a:t>كلمة يونانية تعني: </a:t>
            </a:r>
            <a:r>
              <a:rPr b="1" sz="1125" i="0" u="none">
                <a:solidFill>
                  <a:srgbClr val="555555"/>
                </a:solidFill>
                <a:latin typeface="Cairo"/>
              </a:rPr>
              <a:t>الحياة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8528" y="4519612"/>
            <a:ext cx="31027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E7D32"/>
                </a:solidFill>
                <a:latin typeface="Cairo"/>
              </a:rPr>
              <a:t>Logos</a:t>
            </a:r>
            <a:r>
              <a:rPr b="1" sz="1650" i="0" u="none">
                <a:solidFill>
                  <a:srgbClr val="2E7D32"/>
                </a:solidFill>
                <a:latin typeface="Cairo"/>
              </a:rPr>
              <a:t> </a:t>
            </a:r>
            <a:r>
              <a:rPr b="1" sz="1125" i="0" u="none">
                <a:solidFill>
                  <a:srgbClr val="555555"/>
                </a:solidFill>
                <a:latin typeface="Cairo"/>
              </a:rPr>
              <a:t>كلمة يونانية تعني: </a:t>
            </a:r>
            <a:r>
              <a:rPr b="1" sz="1125" i="0" u="none">
                <a:solidFill>
                  <a:srgbClr val="555555"/>
                </a:solidFill>
                <a:latin typeface="Cairo"/>
              </a:rPr>
              <a:t>دراسة</a:t>
            </a:r>
          </a:p>
        </p:txBody>
      </p:sp>
      <p:pic>
        <p:nvPicPr>
          <p:cNvPr id="20" name="بوابة الأحياء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34450" y="2671762"/>
            <a:ext cx="2495550" cy="2466975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71762"/>
            <a:ext cx="2495550" cy="2466975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86150" y="2793206"/>
            <a:ext cx="2495550" cy="2224087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495550"/>
            <a:ext cx="2495550" cy="281940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2775" y="2909887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5" y="2909887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475" y="3031331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273367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600" y="302418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925" y="3024187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962" y="3145631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4625" y="2847975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2E7D32"/>
                </a:solidFill>
                <a:latin typeface="Cairo"/>
              </a:rPr>
              <a:t>مجالات البحث والعمل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571750" y="876300"/>
            <a:ext cx="14001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b="1" sz="2400" i="0" u="none">
                <a:solidFill>
                  <a:srgbClr val="1B2A26"/>
                </a:solidFill>
                <a:latin typeface="Cairo"/>
              </a:rPr>
              <a:t>ماذا يفعل علماء الأحياء؟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1597" y="3481387"/>
            <a:ext cx="2220277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دراسة تنوع الحياة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7325" y="3929062"/>
            <a:ext cx="21145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وصف النباتات والحيوانات وخصائصها، مثل جهود ابن سينا وابن البيطار في دراسة النباتات والعقاقير.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7447" y="3481387"/>
            <a:ext cx="2220277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البحث في الأمراض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3175" y="3929062"/>
            <a:ext cx="21145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دراسة كيفية مقاومة الجسم للمرض وتطوير اللقاحات مثل لقاحات الجدري وشلل الأطفال والسكري.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3297" y="3602831"/>
            <a:ext cx="2220277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تطوير التقنيات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9025" y="4050506"/>
            <a:ext cx="21145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تطبيق المعرفة العلمية لتلبية الاحتياجات، مثل تطوير الأطراف الاصطناعية وفصل بلازما الدم.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47" y="3305175"/>
            <a:ext cx="2220277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تحسين الزراعة وحماية البيئة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4105275"/>
            <a:ext cx="21145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الهندسة الوراثية للتربة والنباتات لزيادة المحاصيل، وحماية النباتات والحيوانات المهددة بالانقراض.</a:t>
            </a:r>
          </a:p>
        </p:txBody>
      </p:sp>
      <p:pic>
        <p:nvPicPr>
          <p:cNvPr id="24" name="بوابة الأحياء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49004"/>
            <a:ext cx="3619500" cy="2312491"/>
          </a:xfrm>
          <a:prstGeom prst="roundRect">
            <a:avLst>
              <a:gd name="adj" fmla="val 6590"/>
            </a:avLst>
          </a:prstGeom>
          <a:solidFill>
            <a:srgbClr val="1B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34350" y="25336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86300" y="25336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34350" y="32575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6300" y="32575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4350" y="39814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86300" y="39814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4350" y="47053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86300" y="4705350"/>
            <a:ext cx="3295650" cy="571500"/>
          </a:xfrm>
          <a:prstGeom prst="roundRect">
            <a:avLst>
              <a:gd name="adj" fmla="val 1666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53750" y="2667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05700" y="2667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53750" y="33909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05700" y="33909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53750" y="4114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05700" y="4114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53750" y="4838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05700" y="4838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053804"/>
            <a:ext cx="30099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2E7D32"/>
                </a:solidFill>
                <a:latin typeface="Cairo"/>
              </a:rPr>
              <a:t>خصائص الحياة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571750" y="876300"/>
            <a:ext cx="14001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b="1" sz="2400" i="0" u="none">
                <a:solidFill>
                  <a:srgbClr val="1B2A26"/>
                </a:solidFill>
                <a:latin typeface="Cairo"/>
              </a:rPr>
              <a:t>الخصائص المحددة للمخلوق الحي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292" y="3511004"/>
            <a:ext cx="326040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FFFFF"/>
                </a:solidFill>
                <a:latin typeface="Cairo"/>
              </a:rPr>
              <a:t>تكامل الخصائص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4025354"/>
            <a:ext cx="31051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D0DCD5"/>
                </a:solidFill>
                <a:latin typeface="Cairo"/>
              </a:rPr>
              <a:t>تلتزم جميع المخلوقات الحية - سواء كانت وحيدة الخلية كالبكتيريا أو عديدة الخلايا كالإنسان والنبات - بتوافر هذه الخصائص مجتمعة لاستمرار حياتها.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0875" y="26670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1625" y="2667000"/>
            <a:ext cx="1647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مكون من خلية أو أكثر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2825" y="26670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7850" y="2667000"/>
            <a:ext cx="1733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إظهار التنظيم (التعضي)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0875" y="33909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1700" y="3390900"/>
            <a:ext cx="1047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النمو والتطور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2825" y="33909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4975" y="3390900"/>
            <a:ext cx="18764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التكاثر والحفاظ على النوع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10875" y="41148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900" y="4114800"/>
            <a:ext cx="1352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الحاجة إلى الطاقة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2825" y="41148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1225" y="4114800"/>
            <a:ext cx="14001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الاستجابة للمثيرات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0875" y="48387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6325" y="4838700"/>
            <a:ext cx="2143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المحافظة على الاتزان الداخلي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2825" y="48387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Cairo"/>
              </a:rPr>
              <a:t>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7875" y="4838700"/>
            <a:ext cx="15335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1B2A26"/>
                </a:solidFill>
                <a:latin typeface="Cairo"/>
              </a:rPr>
              <a:t>التكيف وتلاؤم البيئة</a:t>
            </a:r>
          </a:p>
        </p:txBody>
      </p:sp>
      <p:pic>
        <p:nvPicPr>
          <p:cNvPr id="40" name="بوابة الأحيا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6132" y="1485900"/>
            <a:ext cx="4753867" cy="48387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485900"/>
            <a:ext cx="5609332" cy="483870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25125" y="2990403"/>
            <a:ext cx="666750" cy="323850"/>
          </a:xfrm>
          <a:prstGeom prst="roundRect">
            <a:avLst>
              <a:gd name="adj" fmla="val 17647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33007" y="2507456"/>
            <a:ext cx="1600200" cy="323850"/>
          </a:xfrm>
          <a:prstGeom prst="roundRect">
            <a:avLst>
              <a:gd name="adj" fmla="val 17647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125" y="3826668"/>
            <a:ext cx="5133082" cy="428625"/>
          </a:xfrm>
          <a:prstGeom prst="roundRect">
            <a:avLst>
              <a:gd name="adj" fmla="val 13333"/>
            </a:avLst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0125" y="4331493"/>
            <a:ext cx="5133082" cy="428625"/>
          </a:xfrm>
          <a:prstGeom prst="roundRect">
            <a:avLst>
              <a:gd name="adj" fmla="val 13333"/>
            </a:avLst>
          </a:prstGeom>
          <a:solidFill>
            <a:srgbClr val="E2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0125" y="4836318"/>
            <a:ext cx="5133082" cy="466725"/>
          </a:xfrm>
          <a:prstGeom prst="roundRect">
            <a:avLst>
              <a:gd name="adj" fmla="val 12244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2E7D32"/>
                </a:solidFill>
                <a:latin typeface="Cairo"/>
              </a:rPr>
              <a:t>الخصائص ١ و 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71750" y="876300"/>
            <a:ext cx="14001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b="1" sz="2400" i="0" u="none">
                <a:solidFill>
                  <a:srgbClr val="1B2A26"/>
                </a:solidFill>
                <a:latin typeface="Cairo"/>
              </a:rPr>
              <a:t>الخلايا وإظهار التنظيم (التعضي)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4175" y="3028503"/>
            <a:ext cx="533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2E7D32"/>
                </a:solidFill>
                <a:latin typeface="Cairo"/>
              </a:rPr>
              <a:t>١. الخلايا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363" y="3428553"/>
            <a:ext cx="4591511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مكون من خلية أو أكثر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4852" y="3876228"/>
            <a:ext cx="5347022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الخلية هي وحدة التركيب والوظيفة الأساسية في المخلوق الحي.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2057" y="2545556"/>
            <a:ext cx="14668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2E7D32"/>
                </a:solidFill>
                <a:latin typeface="Cairo"/>
              </a:rPr>
              <a:t>٢. التعضي (Organization)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58" y="2945606"/>
            <a:ext cx="5489748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مستويات التنظيم البيولوجي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83145" y="3393281"/>
            <a:ext cx="6416352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تترتب التركيبات الحيوية بشكل منتظم ومحكم للقيام بالوظائف: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8057" y="4270563"/>
            <a:ext cx="762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A5D55"/>
                </a:solidFill>
                <a:latin typeface="Cair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2477" y="4271516"/>
            <a:ext cx="5108897" cy="27429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1" sz="1200" i="0" u="none">
                <a:solidFill>
                  <a:srgbClr val="4A5D55"/>
                </a:solidFill>
                <a:latin typeface="Cairo"/>
              </a:rPr>
              <a:t>وحيدة الخلية:</a:t>
            </a:r>
            <a:r>
              <a:rPr b="0" sz="1200" i="0" u="none">
                <a:solidFill>
                  <a:srgbClr val="4A5D55"/>
                </a:solidFill>
                <a:latin typeface="Cairo"/>
              </a:rPr>
              <a:t> مثل البكتيريا والبراميسيوم.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8057" y="4544853"/>
            <a:ext cx="762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A5D55"/>
                </a:solidFill>
                <a:latin typeface="Cair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2477" y="4545806"/>
            <a:ext cx="5108897" cy="27429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1" sz="1200" i="0" u="none">
                <a:solidFill>
                  <a:srgbClr val="4A5D55"/>
                </a:solidFill>
                <a:latin typeface="Cairo"/>
              </a:rPr>
              <a:t>عديدة الخلايا:</a:t>
            </a:r>
            <a:r>
              <a:rPr b="0" sz="1200" i="0" u="none">
                <a:solidFill>
                  <a:srgbClr val="4A5D55"/>
                </a:solidFill>
                <a:latin typeface="Cairo"/>
              </a:rPr>
              <a:t> مثل الإنسان والأشجار والحيوانات.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3902868"/>
            <a:ext cx="492353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1B2A26"/>
                </a:solidFill>
                <a:latin typeface="Cairo"/>
              </a:rPr>
              <a:t>ذرات وجزيئات ⟵ خلايا متخصصة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275" y="4407693"/>
            <a:ext cx="492353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1B2A26"/>
                </a:solidFill>
                <a:latin typeface="Cairo"/>
              </a:rPr>
              <a:t>نسيج (مجموعة خلايا) ⟵ أعضاء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275" y="4931568"/>
            <a:ext cx="492353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FFFFF"/>
                </a:solidFill>
                <a:latin typeface="Cairo"/>
              </a:rPr>
              <a:t>أجهزة متكاملة ⟵ المخلوق الحي كاملًا</a:t>
            </a:r>
          </a:p>
        </p:txBody>
      </p:sp>
      <p:pic>
        <p:nvPicPr>
          <p:cNvPr id="24" name="بوابة الأحيا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3186112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86062"/>
            <a:ext cx="5181600" cy="2238375"/>
          </a:xfrm>
          <a:prstGeom prst="roundRect">
            <a:avLst>
              <a:gd name="adj" fmla="val 5106"/>
            </a:avLst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8400" y="4614862"/>
            <a:ext cx="5181600" cy="952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186112"/>
            <a:ext cx="518160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3186112"/>
            <a:ext cx="9525" cy="143827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20475" y="3186112"/>
            <a:ext cx="9525" cy="143827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5014912"/>
            <a:ext cx="5181600" cy="952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786062"/>
            <a:ext cx="5181600" cy="38100"/>
          </a:xfrm>
          <a:prstGeom prst="rect">
            <a:avLst/>
          </a:prstGeom>
          <a:solidFill>
            <a:srgbClr val="1B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786062"/>
            <a:ext cx="9525" cy="223837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34075" y="2786062"/>
            <a:ext cx="9525" cy="2238375"/>
          </a:xfrm>
          <a:prstGeom prst="rect">
            <a:avLst/>
          </a:prstGeom>
          <a:solidFill>
            <a:srgbClr val="E1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0125" y="4100512"/>
            <a:ext cx="4705350" cy="685800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5" y="3533775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5" y="3133725"/>
            <a:ext cx="17145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2E7D32"/>
                </a:solidFill>
                <a:latin typeface="Cairo"/>
              </a:rPr>
              <a:t>الخصائص ٣ و 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571750" y="876300"/>
            <a:ext cx="14001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b="1" sz="2400" i="0" u="none">
                <a:solidFill>
                  <a:srgbClr val="1B2A26"/>
                </a:solidFill>
                <a:latin typeface="Cairo"/>
              </a:rPr>
              <a:t>النمو والتكاثر للحفاظ على النوع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282" y="3452812"/>
            <a:ext cx="4740592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النمو (Growth)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900487"/>
            <a:ext cx="480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هو </a:t>
            </a:r>
            <a:r>
              <a:rPr b="1" sz="1275" i="0" u="none">
                <a:solidFill>
                  <a:srgbClr val="4A5D55"/>
                </a:solidFill>
                <a:latin typeface="Cairo"/>
              </a:rPr>
              <a:t>زيادة في كتلة المخلوق الحي</a:t>
            </a:r>
            <a:r>
              <a:rPr b="0" sz="1275" i="0" u="none">
                <a:solidFill>
                  <a:srgbClr val="4A5D55"/>
                </a:solidFill>
                <a:latin typeface="Cairo"/>
              </a:rPr>
              <a:t>. يحدث النمو بتكون خلايا وتركيبات جديدة، واكتساب قدرات مختلفة خلال مراحل الحياة.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79" y="3052762"/>
            <a:ext cx="4760595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التكاثر (Reproduction)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3500437"/>
            <a:ext cx="480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إنتاج أفراد جديدة لنقل الصفات الوراثية. التكاثر ليس خاصية أساسية لبقاء الفرد نفسه، بل هو </a:t>
            </a:r>
            <a:r>
              <a:rPr b="1" sz="1275" i="0" u="none">
                <a:solidFill>
                  <a:srgbClr val="4A5D55"/>
                </a:solidFill>
                <a:latin typeface="Cairo"/>
              </a:rPr>
              <a:t>ضروري لبقاء النوع</a:t>
            </a:r>
            <a:r>
              <a:rPr b="0" sz="1275" i="0" u="none">
                <a:solidFill>
                  <a:srgbClr val="4A5D55"/>
                </a:solidFill>
                <a:latin typeface="Cairo"/>
              </a:rPr>
              <a:t> وحمايته من الانقراض.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4195762"/>
            <a:ext cx="4610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666666"/>
                </a:solidFill>
                <a:latin typeface="Cairo"/>
              </a:rPr>
              <a:t>النوع (Species):</a:t>
            </a:r>
            <a:r>
              <a:rPr b="0" sz="1050" i="0" u="none">
                <a:solidFill>
                  <a:srgbClr val="666666"/>
                </a:solidFill>
                <a:latin typeface="Cairo"/>
              </a:rPr>
              <a:t> مجموعة من المخلوقات المتقاربة تتزاوج فيما بينها وتنتج نسلاً قادراً على التكاثر.</a:t>
            </a:r>
          </a:p>
        </p:txBody>
      </p:sp>
      <p:pic>
        <p:nvPicPr>
          <p:cNvPr id="22" name="بوابة الأحياء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0" y="2400300"/>
            <a:ext cx="628650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43500" y="4000500"/>
            <a:ext cx="628650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90750"/>
            <a:ext cx="4000500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00275"/>
            <a:ext cx="398145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2E7D32"/>
                </a:solidFill>
                <a:latin typeface="Cairo"/>
              </a:rPr>
              <a:t>الخصائص ٥ و 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571750" y="876300"/>
            <a:ext cx="14001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b="1" sz="2400" i="0" u="none">
                <a:solidFill>
                  <a:srgbClr val="1B2A26"/>
                </a:solidFill>
                <a:latin typeface="Cairo"/>
              </a:rPr>
              <a:t>الحاجة للطاقة والاستجابة للمثيرات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1100" y="2638425"/>
            <a:ext cx="6200775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الحاجة إلى الطاقة (Requires Energy)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6375" y="3086100"/>
            <a:ext cx="5905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تستهلك المخلوقات الحية الغذاء كمصدر للطاقة. النباتات تصنع غذاءها بنفسها (البناء الضوئي)، بينما تحصل الحيوانات والفطريات على الطاقة بالتغذي على غيرها.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4238625"/>
            <a:ext cx="6200775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الاستجابة للمثيرات (Response to Stimuli)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6375" y="4686300"/>
            <a:ext cx="5905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1" sz="1275" i="0" u="none">
                <a:solidFill>
                  <a:srgbClr val="4A5D55"/>
                </a:solidFill>
                <a:latin typeface="Cairo"/>
              </a:rPr>
              <a:t>المثير:</a:t>
            </a:r>
            <a:r>
              <a:rPr b="0" sz="1275" i="0" u="none">
                <a:solidFill>
                  <a:srgbClr val="4A5D55"/>
                </a:solidFill>
                <a:latin typeface="Cairo"/>
              </a:rPr>
              <a:t> أي شيء يسبب رد فعل للمخلوق الحي (داخلي أو خارجي).</a:t>
            </a:r>
            <a:r>
              <a:t>
</a:t>
            </a:r>
            <a:r>
              <a:rPr b="1" sz="1275" i="0" u="none">
                <a:solidFill>
                  <a:srgbClr val="4A5D55"/>
                </a:solidFill>
                <a:latin typeface="Cairo"/>
              </a:rPr>
              <a:t>الاستجابة:</a:t>
            </a:r>
            <a:r>
              <a:rPr b="0" sz="1275" i="0" u="none">
                <a:solidFill>
                  <a:srgbClr val="4A5D55"/>
                </a:solidFill>
                <a:latin typeface="Cairo"/>
              </a:rPr>
              <a:t> رد الفعل الناتج عن المثير (مثل انغلاق نبتة فينوس لاقتناص الحشرة).</a:t>
            </a:r>
          </a:p>
        </p:txBody>
      </p:sp>
      <p:pic>
        <p:nvPicPr>
          <p:cNvPr id="12" name="بوابة الأحياء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00300"/>
            <a:ext cx="6477000" cy="1409700"/>
          </a:xfrm>
          <a:prstGeom prst="roundRect">
            <a:avLst>
              <a:gd name="adj" fmla="val 8108"/>
            </a:avLst>
          </a:prstGeom>
          <a:solidFill>
            <a:srgbClr val="F7F9F6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000500"/>
            <a:ext cx="6477000" cy="1409700"/>
          </a:xfrm>
          <a:prstGeom prst="roundRect">
            <a:avLst>
              <a:gd name="adj" fmla="val 8108"/>
            </a:avLst>
          </a:prstGeom>
          <a:solidFill>
            <a:srgbClr val="F7F9F6"/>
          </a:solidFill>
          <a:ln w="9525">
            <a:solidFill>
              <a:srgbClr val="E1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190750"/>
            <a:ext cx="3810000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2200275"/>
            <a:ext cx="3790950" cy="340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719387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75" y="4319587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2E7D32"/>
                </a:solidFill>
                <a:latin typeface="Cairo"/>
              </a:rPr>
              <a:t>الخصائص ٧ و 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571750" y="876300"/>
            <a:ext cx="14001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b="1" sz="2400" i="0" u="none">
                <a:solidFill>
                  <a:srgbClr val="1B2A26"/>
                </a:solidFill>
                <a:latin typeface="Cairo"/>
              </a:rPr>
              <a:t>الاتزان الداخلي والتكيف مع البيئة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118" y="2638425"/>
            <a:ext cx="6050756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الاتزان الداخلي (Homeostasis)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086100"/>
            <a:ext cx="6096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تنظيم الظروف الداخلية للمخلوق الحي من أجل الحفاظ على حياته، مثل العرق لتبريد الجسم وإفراز الهرمونات لضبط مستويات السكر.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112" y="4238625"/>
            <a:ext cx="6100762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1500" i="0" u="none">
                <a:solidFill>
                  <a:srgbClr val="1B2A26"/>
                </a:solidFill>
                <a:latin typeface="Cairo"/>
              </a:rPr>
              <a:t>التكيف (Adaptation)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4686300"/>
            <a:ext cx="6096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12"/>
              </a:lnSpc>
            </a:pPr>
            <a:r>
              <a:rPr b="0" sz="1275" i="0" u="none">
                <a:solidFill>
                  <a:srgbClr val="4A5D55"/>
                </a:solidFill>
                <a:latin typeface="Cairo"/>
              </a:rPr>
              <a:t>قابليات موروثة ناتجة عن تغير في تركيب جسم المخلوق الحي لملاءمة وظيفته والحفاظ على بقاء نوعه (مثل القمة الناقطة في أوراق الغابات المطيرة والتورق الشوكي في الصحراء).</a:t>
            </a:r>
          </a:p>
        </p:txBody>
      </p:sp>
      <p:pic>
        <p:nvPicPr>
          <p:cNvPr id="14" name="بوابة الأحياء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0" y="2326481"/>
            <a:ext cx="5238750" cy="1066800"/>
          </a:xfrm>
          <a:prstGeom prst="roundRect">
            <a:avLst>
              <a:gd name="adj" fmla="val 10714"/>
            </a:avLst>
          </a:prstGeom>
          <a:solidFill>
            <a:srgbClr val="1F2F28"/>
          </a:solidFill>
          <a:ln w="9525">
            <a:solidFill>
              <a:srgbClr val="2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188368"/>
            <a:ext cx="5238750" cy="1343025"/>
          </a:xfrm>
          <a:prstGeom prst="roundRect">
            <a:avLst>
              <a:gd name="adj" fmla="val 8510"/>
            </a:avLst>
          </a:prstGeom>
          <a:solidFill>
            <a:srgbClr val="1F2F28"/>
          </a:solidFill>
          <a:ln w="9525">
            <a:solidFill>
              <a:srgbClr val="2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4745831"/>
            <a:ext cx="5238750" cy="1066800"/>
          </a:xfrm>
          <a:prstGeom prst="roundRect">
            <a:avLst>
              <a:gd name="adj" fmla="val 10714"/>
            </a:avLst>
          </a:prstGeom>
          <a:solidFill>
            <a:srgbClr val="1F2F28"/>
          </a:solidFill>
          <a:ln w="9525">
            <a:solidFill>
              <a:srgbClr val="2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745831"/>
            <a:ext cx="5238750" cy="1066800"/>
          </a:xfrm>
          <a:prstGeom prst="roundRect">
            <a:avLst>
              <a:gd name="adj" fmla="val 10714"/>
            </a:avLst>
          </a:prstGeom>
          <a:solidFill>
            <a:srgbClr val="1F2F28"/>
          </a:solidFill>
          <a:ln w="9525">
            <a:solidFill>
              <a:srgbClr val="2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" y="533400"/>
            <a:ext cx="1076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81C784"/>
                </a:solidFill>
                <a:latin typeface="Cairo"/>
              </a:rPr>
              <a:t>الخلاصة والتركيز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" y="876300"/>
            <a:ext cx="113014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FFFFFF"/>
                </a:solidFill>
                <a:latin typeface="Cairo"/>
              </a:rPr>
              <a:t>ملخص أفكار درس مدخل علم الأحياء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9327" y="2526506"/>
            <a:ext cx="518064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81C784"/>
                </a:solidFill>
                <a:latin typeface="Cairo"/>
              </a:rPr>
              <a:t>علم الأحياء (Biology)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6025" y="2917031"/>
            <a:ext cx="49339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125" i="0" u="none">
                <a:solidFill>
                  <a:srgbClr val="D0DCD5"/>
                </a:solidFill>
                <a:latin typeface="Cairo"/>
              </a:rPr>
              <a:t>دراسة الحياة وتاريخها وتراكيب ووظائف المخلوقات الحية وتفاعلها مع بيئتها.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" y="2388393"/>
            <a:ext cx="518064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81C784"/>
                </a:solidFill>
                <a:latin typeface="Cairo"/>
              </a:rPr>
              <a:t>دور العلماء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2778918"/>
            <a:ext cx="49339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125" i="0" u="none">
                <a:solidFill>
                  <a:srgbClr val="D0DCD5"/>
                </a:solidFill>
                <a:latin typeface="Cairo"/>
              </a:rPr>
              <a:t>دراسة التنوع، البحث في الأمراض وتطوير اللقاحات، تحسين الزراعة، وتطوير التقنيات الطبية.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9327" y="4945856"/>
            <a:ext cx="518064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81C784"/>
                </a:solidFill>
                <a:latin typeface="Cairo"/>
              </a:rPr>
              <a:t>خصائص المخلوقات الحية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025" y="5336381"/>
            <a:ext cx="49339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125" i="0" u="none">
                <a:solidFill>
                  <a:srgbClr val="D0DCD5"/>
                </a:solidFill>
                <a:latin typeface="Cairo"/>
              </a:rPr>
              <a:t>الخلايا، التعضي، النمو، التكاثر، استخدام الطاقة، الاستجابة، الاتزان الداخلي، والتكيف.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77" y="4945856"/>
            <a:ext cx="518064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81C784"/>
                </a:solidFill>
                <a:latin typeface="Cairo"/>
              </a:rPr>
              <a:t>التكامل البيولوجي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5336381"/>
            <a:ext cx="49339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125" i="0" u="none">
                <a:solidFill>
                  <a:srgbClr val="D0DCD5"/>
                </a:solidFill>
                <a:latin typeface="Cairo"/>
              </a:rPr>
              <a:t>تعمل جميع الخصائص الحيوية معاً لحفظ بقاء المخلوق الحي واستمرار نوعه في البيئة.</a:t>
            </a:r>
          </a:p>
        </p:txBody>
      </p:sp>
      <p:pic>
        <p:nvPicPr>
          <p:cNvPr id="16" name="بوابة الأحيا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650992"/>
            <a:ext cx="786384" cy="1053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000125"/>
            <a:ext cx="11049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857375"/>
            <a:ext cx="11049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705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05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185862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2043112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2900362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63175" y="571500"/>
            <a:ext cx="163020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C3E35"/>
                </a:solidFill>
                <a:latin typeface="Cairo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4950" y="1143000"/>
            <a:ext cx="53054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C3E35"/>
                </a:solidFill>
                <a:latin typeface="Cairo"/>
              </a:rPr>
              <a:t>https://sayostudio.com/wp-content/uploads/2025/05/CZBioHubOrganelles_still-copy-scaled.jpg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0650" y="1419225"/>
            <a:ext cx="1609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C3E35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Cairo"/>
              </a:rPr>
              <a:t>sayostudio.com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9300" y="2000250"/>
            <a:ext cx="8601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C3E35"/>
                </a:solidFill>
                <a:latin typeface="Cairo"/>
              </a:rPr>
              <a:t>https://cdn.savemyexams.com/uploads/2025/10/1605_httpscdn-savemyexams-comuploads202310venus-flytrap-nervous-transmission-to-catch-prey.webp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9625" y="2276475"/>
            <a:ext cx="2190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C3E35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Cairo"/>
              </a:rPr>
              <a:t>www.savemyexams.com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8350" y="2857500"/>
            <a:ext cx="4772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C3E35"/>
                </a:solidFill>
                <a:latin typeface="Cairo"/>
              </a:rPr>
              <a:t>https://www.ingridscience.ca/sites/default/files/images/activities/IMG_7432_web.JPG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0600" y="3133725"/>
            <a:ext cx="2009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C3E35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Cairo"/>
              </a:rPr>
              <a:t>www.ingridscience.ca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